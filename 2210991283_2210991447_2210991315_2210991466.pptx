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4"/>
  </p:notesMasterIdLst>
  <p:sldIdLst>
    <p:sldId id="268" r:id="rId2"/>
    <p:sldId id="317" r:id="rId3"/>
    <p:sldId id="305" r:id="rId4"/>
    <p:sldId id="333" r:id="rId5"/>
    <p:sldId id="334" r:id="rId6"/>
    <p:sldId id="323" r:id="rId7"/>
    <p:sldId id="330" r:id="rId8"/>
    <p:sldId id="319" r:id="rId9"/>
    <p:sldId id="332" r:id="rId10"/>
    <p:sldId id="299" r:id="rId11"/>
    <p:sldId id="337" r:id="rId12"/>
    <p:sldId id="265"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78" d="100"/>
          <a:sy n="78" d="100"/>
        </p:scale>
        <p:origin x="1622" y="43"/>
      </p:cViewPr>
      <p:guideLst>
        <p:guide orient="horz" pos="2160"/>
        <p:guide pos="2880"/>
      </p:guideLst>
    </p:cSldViewPr>
  </p:slideViewPr>
  <p:notesTextViewPr>
    <p:cViewPr>
      <p:scale>
        <a:sx n="400" d="100"/>
        <a:sy n="4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7CA002-7A07-4C77-B65A-DC99F4DBBEBE}" type="datetimeFigureOut">
              <a:rPr lang="en-IN" smtClean="0"/>
              <a:t>14-05-2026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A0F648-95B6-471F-AAA7-92D6D2AB8A40}" type="slidenum">
              <a:rPr lang="en-IN" smtClean="0"/>
              <a:t>‹#›</a:t>
            </a:fld>
            <a:endParaRPr lang="en-IN"/>
          </a:p>
        </p:txBody>
      </p:sp>
    </p:spTree>
    <p:extLst>
      <p:ext uri="{BB962C8B-B14F-4D97-AF65-F5344CB8AC3E}">
        <p14:creationId xmlns:p14="http://schemas.microsoft.com/office/powerpoint/2010/main" val="2521863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lvl1pPr>
              <a:defRPr sz="3200" b="1">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5BB0C6-8FC1-47C0-B737-D54E21B5B868}" type="datetimeFigureOut">
              <a:rPr lang="en-US" smtClean="0"/>
              <a:pPr/>
              <a:t>5/14/2026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9" name="Picture 15" descr="logo.jpg"/>
          <p:cNvPicPr>
            <a:picLocks noChangeAspect="1"/>
          </p:cNvPicPr>
          <p:nvPr/>
        </p:nvPicPr>
        <p:blipFill>
          <a:blip r:embed="rId3" cstate="print"/>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lvl1pPr>
              <a:defRPr sz="3200">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200">
                <a:latin typeface="Times New Roman" panose="02020603050405020304" pitchFamily="18" charset="0"/>
                <a:cs typeface="Times New Roman" panose="02020603050405020304" pitchFamily="18" charset="0"/>
              </a:defRPr>
            </a:lvl1pPr>
            <a:lvl2pPr>
              <a:defRPr sz="2200">
                <a:latin typeface="Times New Roman" panose="02020603050405020304" pitchFamily="18" charset="0"/>
                <a:cs typeface="Times New Roman" panose="02020603050405020304" pitchFamily="18" charset="0"/>
              </a:defRPr>
            </a:lvl2pPr>
            <a:lvl3pPr>
              <a:defRPr sz="2200">
                <a:latin typeface="Times New Roman" panose="02020603050405020304" pitchFamily="18" charset="0"/>
                <a:cs typeface="Times New Roman" panose="02020603050405020304" pitchFamily="18" charset="0"/>
              </a:defRPr>
            </a:lvl3pPr>
            <a:lvl4pPr>
              <a:defRPr sz="2200">
                <a:latin typeface="Times New Roman" panose="02020603050405020304" pitchFamily="18" charset="0"/>
                <a:cs typeface="Times New Roman" panose="02020603050405020304" pitchFamily="18" charset="0"/>
              </a:defRPr>
            </a:lvl4pPr>
            <a:lvl5pPr>
              <a:defRPr sz="2200">
                <a:latin typeface="Times New Roman" panose="02020603050405020304" pitchFamily="18" charset="0"/>
                <a:cs typeface="Times New Roman" panose="020206030504050203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3"/>
          <p:cNvSpPr>
            <a:spLocks noGrp="1"/>
          </p:cNvSpPr>
          <p:nvPr>
            <p:ph type="dt" sz="half" idx="10"/>
          </p:nvPr>
        </p:nvSpPr>
        <p:spPr/>
        <p:txBody>
          <a:bodyPr/>
          <a:lstStyle>
            <a:lvl1pPr>
              <a:defRPr/>
            </a:lvl1pPr>
          </a:lstStyle>
          <a:p>
            <a:fld id="{1D5BB0C6-8FC1-47C0-B737-D54E21B5B868}" type="datetimeFigureOut">
              <a:rPr lang="en-US" smtClean="0"/>
              <a:pPr/>
              <a:t>5/14/2026</a:t>
            </a:fld>
            <a:endParaRPr lang="en-US"/>
          </a:p>
        </p:txBody>
      </p:sp>
      <p:sp>
        <p:nvSpPr>
          <p:cNvPr id="11" name="Footer Placeholder 4"/>
          <p:cNvSpPr>
            <a:spLocks noGrp="1"/>
          </p:cNvSpPr>
          <p:nvPr>
            <p:ph type="ftr" sz="quarter" idx="11"/>
          </p:nvPr>
        </p:nvSpPr>
        <p:spPr/>
        <p:txBody>
          <a:bodyPr/>
          <a:lstStyle>
            <a:lvl1pPr>
              <a:defRPr/>
            </a:lvl1pPr>
          </a:lstStyle>
          <a:p>
            <a:endParaRPr lang="en-US"/>
          </a:p>
        </p:txBody>
      </p:sp>
      <p:sp>
        <p:nvSpPr>
          <p:cNvPr id="12" name="Slide Number Placeholder 5"/>
          <p:cNvSpPr>
            <a:spLocks noGrp="1"/>
          </p:cNvSpPr>
          <p:nvPr>
            <p:ph type="sldNum" sz="quarter" idx="12"/>
          </p:nvPr>
        </p:nvSpPr>
        <p:spPr/>
        <p:txBody>
          <a:bodyPr/>
          <a:lstStyle>
            <a:lvl1pPr>
              <a:defRPr/>
            </a:lvl1pPr>
          </a:lstStyle>
          <a:p>
            <a:fld id="{0F8887D6-2A35-42AC-99C1-5E14D32EE4CF}" type="slidenum">
              <a:rPr lang="en-US" smtClean="0"/>
              <a:pPr/>
              <a:t>‹#›</a:t>
            </a:fld>
            <a:endParaRPr lang="en-US"/>
          </a:p>
        </p:txBody>
      </p:sp>
    </p:spTree>
  </p:cSld>
  <p:clrMapOvr>
    <a:masterClrMapping/>
  </p:clrMapOvr>
  <p:transition advTm="4000">
    <p:cu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5BB0C6-8FC1-47C0-B737-D54E21B5B868}" type="datetimeFigureOut">
              <a:rPr lang="en-US" smtClean="0"/>
              <a:pPr/>
              <a:t>5/14/2026</a:t>
            </a:fld>
            <a:endParaRPr lang="en-US"/>
          </a:p>
        </p:txBody>
      </p:sp>
      <p:sp>
        <p:nvSpPr>
          <p:cNvPr id="24" name="Footer Placeholder 23"/>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8887D6-2A35-42AC-99C1-5E14D32EE4CF}" type="slidenum">
              <a:rPr lang="en-US" smtClean="0"/>
              <a:pPr/>
              <a:t>‹#›</a:t>
            </a:fld>
            <a:endParaRPr lang="en-US"/>
          </a:p>
        </p:txBody>
      </p:sp>
    </p:spTree>
  </p:cSld>
  <p:clrMapOvr>
    <a:masterClrMapping/>
  </p:clrMapOvr>
  <p:transition advTm="4000">
    <p:cut/>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b="1">
                <a:solidFill>
                  <a:srgbClr val="0070C0"/>
                </a:solidFill>
                <a:latin typeface="Times New Roman" pitchFamily="18" charset="0"/>
                <a:cs typeface="Times New Roman" pitchFamily="18" charset="0"/>
              </a:defRPr>
            </a:lvl1pPr>
          </a:lstStyle>
          <a:p>
            <a:fld id="{1D5BB0C6-8FC1-47C0-B737-D54E21B5B868}" type="datetimeFigureOut">
              <a:rPr lang="en-US" smtClean="0"/>
              <a:pPr/>
              <a:t>5/14/2026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b="1">
                <a:solidFill>
                  <a:srgbClr val="0070C0"/>
                </a:solidFill>
                <a:latin typeface="Times New Roman" pitchFamily="18" charset="0"/>
                <a:ea typeface="ＭＳ Ｐゴシック" charset="-128"/>
                <a:cs typeface="Times New Roman" pitchFamily="18" charset="0"/>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b="1">
                <a:solidFill>
                  <a:srgbClr val="0070C0"/>
                </a:solidFill>
                <a:latin typeface="Times New Roman" pitchFamily="18" charset="0"/>
                <a:cs typeface="Times New Roman" pitchFamily="18" charset="0"/>
              </a:defRPr>
            </a:lvl1pPr>
          </a:lstStyle>
          <a:p>
            <a:fld id="{0F8887D6-2A35-42AC-99C1-5E14D32EE4CF}" type="slidenum">
              <a:rPr lang="en-US" smtClean="0"/>
              <a:pPr/>
              <a:t>‹#›</a:t>
            </a:fld>
            <a:endParaRPr lang="en-US"/>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5"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2"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5"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1038" name="Picture 15" descr="logo.jpg"/>
          <p:cNvPicPr>
            <a:picLocks noChangeAspect="1"/>
          </p:cNvPicPr>
          <p:nvPr/>
        </p:nvPicPr>
        <p:blipFill>
          <a:blip r:embed="rId6" cstate="print"/>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Lst>
  <p:transition advTm="4000">
    <p:cut/>
  </p:transition>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484784"/>
            <a:ext cx="9144000" cy="5509200"/>
          </a:xfrm>
          <a:prstGeom prst="rect">
            <a:avLst/>
          </a:prstGeom>
          <a:noFill/>
        </p:spPr>
        <p:txBody>
          <a:bodyPr wrap="square" rtlCol="0">
            <a:spAutoFit/>
          </a:bodyPr>
          <a:lstStyle/>
          <a:p>
            <a:pPr algn="ctr"/>
            <a:r>
              <a:rPr lang="en-US" sz="3600" b="1" dirty="0">
                <a:solidFill>
                  <a:srgbClr val="FF0000"/>
                </a:solidFill>
                <a:latin typeface="Times New Roman" panose="02020603050405020304" pitchFamily="18" charset="0"/>
                <a:cs typeface="Times New Roman" panose="02020603050405020304" pitchFamily="18" charset="0"/>
              </a:rPr>
              <a:t>Social Media Algorithm and Political Polarization</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Ankush(2210991283)</a:t>
            </a:r>
          </a:p>
          <a:p>
            <a:pPr algn="ctr"/>
            <a:r>
              <a:rPr lang="en-US" sz="2000" b="1" dirty="0">
                <a:latin typeface="Times New Roman" panose="02020603050405020304" pitchFamily="18" charset="0"/>
                <a:cs typeface="Times New Roman" panose="02020603050405020304" pitchFamily="18" charset="0"/>
              </a:rPr>
              <a:t>Bhupesh(2210991447)</a:t>
            </a:r>
          </a:p>
          <a:p>
            <a:pPr algn="ctr"/>
            <a:r>
              <a:rPr lang="en-US" sz="2000" b="1" dirty="0">
                <a:latin typeface="Times New Roman" panose="02020603050405020304" pitchFamily="18" charset="0"/>
                <a:cs typeface="Times New Roman" panose="02020603050405020304" pitchFamily="18" charset="0"/>
              </a:rPr>
              <a:t>Chirag(2210991466)</a:t>
            </a:r>
          </a:p>
          <a:p>
            <a:pPr algn="ctr"/>
            <a:r>
              <a:rPr lang="en-US" sz="2000" b="1" dirty="0">
                <a:latin typeface="Times New Roman" panose="02020603050405020304" pitchFamily="18" charset="0"/>
                <a:cs typeface="Times New Roman" panose="02020603050405020304" pitchFamily="18" charset="0"/>
              </a:rPr>
              <a:t>Anuj(2210991315)</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Subject: IOHE(Industry Oriented Hands-on Experience)</a:t>
            </a:r>
          </a:p>
          <a:p>
            <a:pPr algn="ctr"/>
            <a:endParaRPr lang="en-US" sz="2000" b="1" dirty="0">
              <a:latin typeface="Times New Roman" panose="02020603050405020304" pitchFamily="18" charset="0"/>
              <a:cs typeface="Times New Roman" panose="02020603050405020304" pitchFamily="18" charset="0"/>
            </a:endParaRPr>
          </a:p>
          <a:p>
            <a:pPr algn="ctr"/>
            <a:r>
              <a:rPr lang="en-US" sz="2000" b="1" dirty="0">
                <a:latin typeface="Times New Roman" panose="02020603050405020304" pitchFamily="18" charset="0"/>
                <a:cs typeface="Times New Roman" panose="02020603050405020304" pitchFamily="18" charset="0"/>
              </a:rPr>
              <a:t>Supervised by : Dr Ashish Kumar</a:t>
            </a:r>
          </a:p>
          <a:p>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sz="2000" b="1" dirty="0">
              <a:solidFill>
                <a:srgbClr val="FF00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1187624" y="5661248"/>
            <a:ext cx="6947095" cy="707886"/>
          </a:xfrm>
          <a:prstGeom prst="rect">
            <a:avLst/>
          </a:prstGeom>
          <a:noFill/>
        </p:spPr>
        <p:txBody>
          <a:bodyPr wrap="none" rtlCol="0">
            <a:spAutoFit/>
          </a:bodyPr>
          <a:lstStyle/>
          <a:p>
            <a:r>
              <a:rPr lang="en-US" sz="2000" b="1" dirty="0">
                <a:latin typeface="Times New Roman" pitchFamily="18" charset="0"/>
                <a:cs typeface="Times New Roman" pitchFamily="18" charset="0"/>
              </a:rPr>
              <a:t>Chitkara University Institute of Engineering and Technology, </a:t>
            </a:r>
          </a:p>
          <a:p>
            <a:pPr algn="ctr"/>
            <a:r>
              <a:rPr lang="en-US" sz="2000" b="1" dirty="0">
                <a:latin typeface="Times New Roman" pitchFamily="18" charset="0"/>
                <a:cs typeface="Times New Roman" pitchFamily="18" charset="0"/>
              </a:rPr>
              <a:t>Chitkara University, Punjab</a:t>
            </a:r>
          </a:p>
        </p:txBody>
      </p:sp>
    </p:spTree>
  </p:cSld>
  <p:clrMapOvr>
    <a:masterClrMapping/>
  </p:clrMapOvr>
  <p:transition advTm="4000">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35B8E-296E-809D-E192-C546B1574908}"/>
              </a:ext>
            </a:extLst>
          </p:cNvPr>
          <p:cNvSpPr>
            <a:spLocks noGrp="1"/>
          </p:cNvSpPr>
          <p:nvPr>
            <p:ph type="ctrTitle"/>
          </p:nvPr>
        </p:nvSpPr>
        <p:spPr/>
        <p:txBody>
          <a:bodyPr/>
          <a:lstStyle/>
          <a:p>
            <a:pPr algn="l"/>
            <a:r>
              <a:rPr lang="en-IN" dirty="0"/>
              <a:t>Introduction</a:t>
            </a:r>
          </a:p>
        </p:txBody>
      </p:sp>
      <p:sp>
        <p:nvSpPr>
          <p:cNvPr id="3" name="Subtitle 2">
            <a:extLst>
              <a:ext uri="{FF2B5EF4-FFF2-40B4-BE49-F238E27FC236}">
                <a16:creationId xmlns:a16="http://schemas.microsoft.com/office/drawing/2014/main" id="{4782A0CF-7F55-A2D3-506A-0F9A054869EF}"/>
              </a:ext>
            </a:extLst>
          </p:cNvPr>
          <p:cNvSpPr>
            <a:spLocks noGrp="1"/>
          </p:cNvSpPr>
          <p:nvPr>
            <p:ph type="subTitle" idx="1"/>
          </p:nvPr>
        </p:nvSpPr>
        <p:spPr>
          <a:xfrm>
            <a:off x="323528" y="1066800"/>
            <a:ext cx="8153400" cy="4724400"/>
          </a:xfrm>
        </p:spPr>
        <p:txBody>
          <a:bodyPr/>
          <a:lstStyle/>
          <a:p>
            <a:pPr marL="342900" indent="-342900" algn="just">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Social media platforms have changed the way people communicate and share political opinions. These platforms provide quick access to news, discussions, and public debates. However, users are often exposed only to content that matches their beliefs. This creates echo chambers and limits exposure to different viewpoints. As a result, divisions among social groups continue to increase. This process contributes significantly to social polarization in society</a:t>
            </a:r>
            <a:r>
              <a:rPr lang="en-US" sz="2000" dirty="0">
                <a:latin typeface="Times New Roman" panose="02020603050405020304" pitchFamily="18" charset="0"/>
                <a:cs typeface="Times New Roman" panose="02020603050405020304" pitchFamily="18" charset="0"/>
              </a:rPr>
              <a:t>.</a:t>
            </a:r>
          </a:p>
          <a:p>
            <a:pPr algn="just"/>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Political polarization refers to the growing gap between opposing political ideologies. Social media algorithms frequently promote emotionally engaging political content. Misinformation and biased information further influence public opinion online. People become more supportive of their own political groups and less tolerant of others. This increases conflicts in political discussions and weakens democratic dialogue. Therefore, social media plays an important role in shaping political polarization.</a:t>
            </a:r>
          </a:p>
          <a:p>
            <a:pPr algn="just"/>
            <a:endParaRPr lang="en-US" sz="2000" dirty="0">
              <a:solidFill>
                <a:schemeClr val="tx1"/>
              </a:solidFill>
              <a:latin typeface="Times New Roman" panose="02020603050405020304" pitchFamily="18" charset="0"/>
              <a:cs typeface="Times New Roman" panose="02020603050405020304" pitchFamily="18" charset="0"/>
            </a:endParaRPr>
          </a:p>
          <a:p>
            <a:pPr algn="just"/>
            <a:r>
              <a:rPr lang="en-US" sz="2000" dirty="0"/>
              <a:t>. </a:t>
            </a:r>
          </a:p>
          <a:p>
            <a:pPr algn="just"/>
            <a:br>
              <a:rPr lang="en-US" sz="2000" dirty="0"/>
            </a:br>
            <a:endParaRPr lang="en-US" sz="2000" dirty="0"/>
          </a:p>
          <a:p>
            <a:pPr algn="just"/>
            <a:br>
              <a:rPr lang="en-US" sz="2000" dirty="0">
                <a:highlight>
                  <a:srgbClr val="C0C0C0"/>
                </a:highlight>
              </a:rPr>
            </a:br>
            <a:endParaRPr lang="en-US" sz="2000" dirty="0">
              <a:highlight>
                <a:srgbClr val="C0C0C0"/>
              </a:highlight>
            </a:endParaRPr>
          </a:p>
          <a:p>
            <a:pPr marL="342900" indent="-342900" algn="just">
              <a:buFont typeface="Wingdings" panose="05000000000000000000" pitchFamily="2" charset="2"/>
              <a:buChar char="q"/>
            </a:pPr>
            <a:endParaRPr lang="en-IN"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6518676"/>
      </p:ext>
    </p:extLst>
  </p:cSld>
  <p:clrMapOvr>
    <a:masterClrMapping/>
  </p:clrMapOvr>
  <p:transition advTm="4000">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Problem</a:t>
            </a:r>
            <a:r>
              <a:rPr lang="en-US" sz="3200" dirty="0">
                <a:latin typeface="Times New Roman" pitchFamily="18" charset="0"/>
                <a:cs typeface="Times New Roman" pitchFamily="18" charset="0"/>
              </a:rPr>
              <a:t> </a:t>
            </a:r>
            <a:r>
              <a:rPr lang="en-US" sz="3200" b="1" dirty="0">
                <a:latin typeface="Times New Roman" pitchFamily="18" charset="0"/>
                <a:cs typeface="Times New Roman" pitchFamily="18" charset="0"/>
              </a:rPr>
              <a:t>Statement</a:t>
            </a:r>
          </a:p>
        </p:txBody>
      </p:sp>
      <p:sp>
        <p:nvSpPr>
          <p:cNvPr id="6" name="Rectangle 5">
            <a:extLst>
              <a:ext uri="{FF2B5EF4-FFF2-40B4-BE49-F238E27FC236}">
                <a16:creationId xmlns:a16="http://schemas.microsoft.com/office/drawing/2014/main" id="{BE384ED1-6231-726D-BBB8-98CA8FB2F009}"/>
              </a:ext>
            </a:extLst>
          </p:cNvPr>
          <p:cNvSpPr/>
          <p:nvPr/>
        </p:nvSpPr>
        <p:spPr>
          <a:xfrm>
            <a:off x="251520" y="1556792"/>
            <a:ext cx="8640960" cy="2862322"/>
          </a:xfrm>
          <a:prstGeom prst="rect">
            <a:avLst/>
          </a:prstGeom>
        </p:spPr>
        <p:txBody>
          <a:bodyPr wrap="square">
            <a:spAutoFit/>
          </a:bodyPr>
          <a:lstStyle/>
          <a:p>
            <a:pPr marL="342900" indent="-342900" algn="just">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The increasing use of social media has changed the way people receive political information and express opinions online. Many users are exposed only to content that supports their existing beliefs and viewpoints. Social media algorithms often recommend similar posts, creating echo chambers among users. This limits interaction with different perspectives and increases misunderstandings between social groups. As a result, social divisions and ideological conflicts continue to grow in society. Therefore, social media has become a major factor contributing to social polarization.</a:t>
            </a: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659D4-8E8C-051D-5FA7-3F1A3EE5ED69}"/>
              </a:ext>
            </a:extLst>
          </p:cNvPr>
          <p:cNvSpPr>
            <a:spLocks noGrp="1"/>
          </p:cNvSpPr>
          <p:nvPr>
            <p:ph type="ctrTitle"/>
          </p:nvPr>
        </p:nvSpPr>
        <p:spPr/>
        <p:txBody>
          <a:bodyPr/>
          <a:lstStyle/>
          <a:p>
            <a:pPr algn="l"/>
            <a:r>
              <a:rPr lang="en-US" dirty="0"/>
              <a:t>Objective</a:t>
            </a:r>
          </a:p>
        </p:txBody>
      </p:sp>
      <p:sp>
        <p:nvSpPr>
          <p:cNvPr id="3" name="Subtitle 2">
            <a:extLst>
              <a:ext uri="{FF2B5EF4-FFF2-40B4-BE49-F238E27FC236}">
                <a16:creationId xmlns:a16="http://schemas.microsoft.com/office/drawing/2014/main" id="{1E75EA1B-3640-5613-1E52-FFABBF8B2359}"/>
              </a:ext>
            </a:extLst>
          </p:cNvPr>
          <p:cNvSpPr>
            <a:spLocks noGrp="1"/>
          </p:cNvSpPr>
          <p:nvPr>
            <p:ph type="subTitle" idx="1"/>
          </p:nvPr>
        </p:nvSpPr>
        <p:spPr>
          <a:xfrm>
            <a:off x="107504" y="1338064"/>
            <a:ext cx="8579296" cy="4755232"/>
          </a:xfrm>
        </p:spPr>
        <p:txBody>
          <a:bodyPr/>
          <a:lstStyle/>
          <a:p>
            <a:pPr marL="457200" indent="-457200" algn="just">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To examine the role of social media in influencing social and political opinions among users. To understand how online platforms affect communication and information sharing in society. To analyze the impact of social media algorithms on user behavior and content exposure. To study the formation of echo chambers and selective exposure on digital platforms. To identify factors that contribute to social divisions through online interactions. To evaluate the relationship between social media usage and social polarization</a:t>
            </a:r>
            <a:r>
              <a:rPr lang="en-US" sz="2000" dirty="0"/>
              <a:t>.</a:t>
            </a:r>
          </a:p>
          <a:p>
            <a:pPr marL="457200" indent="-457200" algn="just">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To analyze how social media contributes to political polarization in modern society. To study the spread of misinformation and biased political content on online platforms. To examine the effect of political discussions on public opinion and democratic values. To understand how users develop extreme political attitudes through social media engagement. To evaluate the impact of online political conflicts on social harmony and stability. To suggest possible measures for reducing social and political polarization online</a:t>
            </a:r>
            <a:r>
              <a:rPr lang="en-US" sz="2000" dirty="0"/>
              <a:t>.</a:t>
            </a:r>
            <a:r>
              <a:rPr lang="en-US" sz="2000" dirty="0">
                <a:solidFill>
                  <a:schemeClr val="tx1"/>
                </a:solidFill>
                <a:latin typeface="Times New Roman" panose="02020603050405020304" pitchFamily="18" charset="0"/>
                <a:cs typeface="Times New Roman" panose="02020603050405020304" pitchFamily="18" charset="0"/>
              </a:rPr>
              <a:t>.</a:t>
            </a:r>
          </a:p>
          <a:p>
            <a:pPr marL="457200" indent="-457200" algn="just">
              <a:buFont typeface="Wingdings" panose="05000000000000000000" pitchFamily="2" charset="2"/>
              <a:buChar char="q"/>
            </a:pP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1024553"/>
      </p:ext>
    </p:extLst>
  </p:cSld>
  <p:clrMapOvr>
    <a:masterClrMapping/>
  </p:clrMapOvr>
  <p:transition advTm="4000">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4B017-32D3-D4A8-3BB6-64B0E408388E}"/>
              </a:ext>
            </a:extLst>
          </p:cNvPr>
          <p:cNvSpPr>
            <a:spLocks noGrp="1"/>
          </p:cNvSpPr>
          <p:nvPr>
            <p:ph type="ctrTitle"/>
          </p:nvPr>
        </p:nvSpPr>
        <p:spPr/>
        <p:txBody>
          <a:bodyPr/>
          <a:lstStyle/>
          <a:p>
            <a:pPr algn="l"/>
            <a:r>
              <a:rPr lang="en-US" dirty="0"/>
              <a:t>Methodology</a:t>
            </a:r>
          </a:p>
        </p:txBody>
      </p:sp>
      <p:sp>
        <p:nvSpPr>
          <p:cNvPr id="3" name="Subtitle 2">
            <a:extLst>
              <a:ext uri="{FF2B5EF4-FFF2-40B4-BE49-F238E27FC236}">
                <a16:creationId xmlns:a16="http://schemas.microsoft.com/office/drawing/2014/main" id="{83AB3058-000E-8F73-05DE-84838D7057FA}"/>
              </a:ext>
            </a:extLst>
          </p:cNvPr>
          <p:cNvSpPr>
            <a:spLocks noGrp="1"/>
          </p:cNvSpPr>
          <p:nvPr>
            <p:ph type="subTitle" idx="1"/>
          </p:nvPr>
        </p:nvSpPr>
        <p:spPr>
          <a:xfrm>
            <a:off x="0" y="1340768"/>
            <a:ext cx="8686800" cy="4755232"/>
          </a:xfrm>
        </p:spPr>
        <p:txBody>
          <a:bodyPr/>
          <a:lstStyle/>
          <a:p>
            <a:pPr marL="457200" indent="-457200" algn="just">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This research is based on both qualitative and quantitative methods to study social and political </a:t>
            </a:r>
            <a:r>
              <a:rPr lang="en-US" sz="2000" dirty="0" err="1">
                <a:solidFill>
                  <a:schemeClr val="tx1"/>
                </a:solidFill>
                <a:latin typeface="Times New Roman" panose="02020603050405020304" pitchFamily="18" charset="0"/>
                <a:cs typeface="Times New Roman" panose="02020603050405020304" pitchFamily="18" charset="0"/>
              </a:rPr>
              <a:t>polarisation.Data</a:t>
            </a:r>
            <a:r>
              <a:rPr lang="en-US" sz="2000" dirty="0">
                <a:solidFill>
                  <a:schemeClr val="tx1"/>
                </a:solidFill>
                <a:latin typeface="Times New Roman" panose="02020603050405020304" pitchFamily="18" charset="0"/>
                <a:cs typeface="Times New Roman" panose="02020603050405020304" pitchFamily="18" charset="0"/>
              </a:rPr>
              <a:t> is collected from research papers, journals, articles, and online sources related to social </a:t>
            </a:r>
            <a:r>
              <a:rPr lang="en-US" sz="2000" dirty="0" err="1">
                <a:solidFill>
                  <a:schemeClr val="tx1"/>
                </a:solidFill>
                <a:latin typeface="Times New Roman" panose="02020603050405020304" pitchFamily="18" charset="0"/>
                <a:cs typeface="Times New Roman" panose="02020603050405020304" pitchFamily="18" charset="0"/>
              </a:rPr>
              <a:t>media.Surveys</a:t>
            </a:r>
            <a:r>
              <a:rPr lang="en-US" sz="2000" dirty="0">
                <a:solidFill>
                  <a:schemeClr val="tx1"/>
                </a:solidFill>
                <a:latin typeface="Times New Roman" panose="02020603050405020304" pitchFamily="18" charset="0"/>
                <a:cs typeface="Times New Roman" panose="02020603050405020304" pitchFamily="18" charset="0"/>
              </a:rPr>
              <a:t> and questionnaires are used to understand public opinions and social media usage </a:t>
            </a:r>
            <a:r>
              <a:rPr lang="en-US" sz="2000" dirty="0" err="1">
                <a:solidFill>
                  <a:schemeClr val="tx1"/>
                </a:solidFill>
                <a:latin typeface="Times New Roman" panose="02020603050405020304" pitchFamily="18" charset="0"/>
                <a:cs typeface="Times New Roman" panose="02020603050405020304" pitchFamily="18" charset="0"/>
              </a:rPr>
              <a:t>patterns.The</a:t>
            </a:r>
            <a:r>
              <a:rPr lang="en-US" sz="2000" dirty="0">
                <a:solidFill>
                  <a:schemeClr val="tx1"/>
                </a:solidFill>
                <a:latin typeface="Times New Roman" panose="02020603050405020304" pitchFamily="18" charset="0"/>
                <a:cs typeface="Times New Roman" panose="02020603050405020304" pitchFamily="18" charset="0"/>
              </a:rPr>
              <a:t> study focuses on how users interact with political and social content on digital </a:t>
            </a:r>
            <a:r>
              <a:rPr lang="en-US" sz="2000" dirty="0" err="1">
                <a:solidFill>
                  <a:schemeClr val="tx1"/>
                </a:solidFill>
                <a:latin typeface="Times New Roman" panose="02020603050405020304" pitchFamily="18" charset="0"/>
                <a:cs typeface="Times New Roman" panose="02020603050405020304" pitchFamily="18" charset="0"/>
              </a:rPr>
              <a:t>platforms.Different</a:t>
            </a:r>
            <a:r>
              <a:rPr lang="en-US" sz="2000" dirty="0">
                <a:solidFill>
                  <a:schemeClr val="tx1"/>
                </a:solidFill>
                <a:latin typeface="Times New Roman" panose="02020603050405020304" pitchFamily="18" charset="0"/>
                <a:cs typeface="Times New Roman" panose="02020603050405020304" pitchFamily="18" charset="0"/>
              </a:rPr>
              <a:t> social media platforms are analyzed to identify trends in online discussions and </a:t>
            </a:r>
            <a:r>
              <a:rPr lang="en-US" sz="2000" dirty="0" err="1">
                <a:solidFill>
                  <a:schemeClr val="tx1"/>
                </a:solidFill>
                <a:latin typeface="Times New Roman" panose="02020603050405020304" pitchFamily="18" charset="0"/>
                <a:cs typeface="Times New Roman" panose="02020603050405020304" pitchFamily="18" charset="0"/>
              </a:rPr>
              <a:t>behavior.The</a:t>
            </a:r>
            <a:r>
              <a:rPr lang="en-US" sz="2000" dirty="0">
                <a:solidFill>
                  <a:schemeClr val="tx1"/>
                </a:solidFill>
                <a:latin typeface="Times New Roman" panose="02020603050405020304" pitchFamily="18" charset="0"/>
                <a:cs typeface="Times New Roman" panose="02020603050405020304" pitchFamily="18" charset="0"/>
              </a:rPr>
              <a:t> collected data is examined to understand the relationship between social media and </a:t>
            </a:r>
            <a:r>
              <a:rPr lang="en-US" sz="2000" dirty="0" err="1">
                <a:solidFill>
                  <a:schemeClr val="tx1"/>
                </a:solidFill>
                <a:latin typeface="Times New Roman" panose="02020603050405020304" pitchFamily="18" charset="0"/>
                <a:cs typeface="Times New Roman" panose="02020603050405020304" pitchFamily="18" charset="0"/>
              </a:rPr>
              <a:t>polarisation</a:t>
            </a:r>
            <a:r>
              <a:rPr lang="en-US" sz="2000" dirty="0">
                <a:solidFill>
                  <a:schemeClr val="tx1"/>
                </a:solidFill>
                <a:latin typeface="Times New Roman" panose="02020603050405020304" pitchFamily="18" charset="0"/>
                <a:cs typeface="Times New Roman" panose="02020603050405020304" pitchFamily="18" charset="0"/>
              </a:rPr>
              <a:t>.</a:t>
            </a:r>
          </a:p>
          <a:p>
            <a:pPr marL="457200" indent="-457200" algn="just">
              <a:buFont typeface="Wingdings" panose="05000000000000000000" pitchFamily="2" charset="2"/>
              <a:buChar char="q"/>
            </a:pPr>
            <a:r>
              <a:rPr lang="en-US" sz="2000" dirty="0">
                <a:solidFill>
                  <a:schemeClr val="tx1"/>
                </a:solidFill>
                <a:latin typeface="Times New Roman" panose="02020603050405020304" pitchFamily="18" charset="0"/>
                <a:cs typeface="Times New Roman" panose="02020603050405020304" pitchFamily="18" charset="0"/>
              </a:rPr>
              <a:t>The research also includes the analysis of misinformation, echo chambers, and algorithm-based content </a:t>
            </a:r>
            <a:r>
              <a:rPr lang="en-US" sz="2000" dirty="0" err="1">
                <a:solidFill>
                  <a:schemeClr val="tx1"/>
                </a:solidFill>
                <a:latin typeface="Times New Roman" panose="02020603050405020304" pitchFamily="18" charset="0"/>
                <a:cs typeface="Times New Roman" panose="02020603050405020304" pitchFamily="18" charset="0"/>
              </a:rPr>
              <a:t>recommendations.Comparative</a:t>
            </a:r>
            <a:r>
              <a:rPr lang="en-US" sz="2000" dirty="0">
                <a:solidFill>
                  <a:schemeClr val="tx1"/>
                </a:solidFill>
                <a:latin typeface="Times New Roman" panose="02020603050405020304" pitchFamily="18" charset="0"/>
                <a:cs typeface="Times New Roman" panose="02020603050405020304" pitchFamily="18" charset="0"/>
              </a:rPr>
              <a:t> analysis is used to study different political viewpoints shared on social media </a:t>
            </a:r>
            <a:r>
              <a:rPr lang="en-US" sz="2000" dirty="0" err="1">
                <a:solidFill>
                  <a:schemeClr val="tx1"/>
                </a:solidFill>
                <a:latin typeface="Times New Roman" panose="02020603050405020304" pitchFamily="18" charset="0"/>
                <a:cs typeface="Times New Roman" panose="02020603050405020304" pitchFamily="18" charset="0"/>
              </a:rPr>
              <a:t>platforms.Statistical</a:t>
            </a:r>
            <a:r>
              <a:rPr lang="en-US" sz="2000" dirty="0">
                <a:solidFill>
                  <a:schemeClr val="tx1"/>
                </a:solidFill>
                <a:latin typeface="Times New Roman" panose="02020603050405020304" pitchFamily="18" charset="0"/>
                <a:cs typeface="Times New Roman" panose="02020603050405020304" pitchFamily="18" charset="0"/>
              </a:rPr>
              <a:t> methods are applied to interpret survey responses and user engagement </a:t>
            </a:r>
            <a:r>
              <a:rPr lang="en-US" sz="2000" dirty="0" err="1">
                <a:solidFill>
                  <a:schemeClr val="tx1"/>
                </a:solidFill>
                <a:latin typeface="Times New Roman" panose="02020603050405020304" pitchFamily="18" charset="0"/>
                <a:cs typeface="Times New Roman" panose="02020603050405020304" pitchFamily="18" charset="0"/>
              </a:rPr>
              <a:t>data.Secondary</a:t>
            </a:r>
            <a:r>
              <a:rPr lang="en-US" sz="2000" dirty="0">
                <a:solidFill>
                  <a:schemeClr val="tx1"/>
                </a:solidFill>
                <a:latin typeface="Times New Roman" panose="02020603050405020304" pitchFamily="18" charset="0"/>
                <a:cs typeface="Times New Roman" panose="02020603050405020304" pitchFamily="18" charset="0"/>
              </a:rPr>
              <a:t> data from books, reports, and previous studies supports the research findings</a:t>
            </a:r>
            <a:r>
              <a:rPr lang="en-US" sz="2000" dirty="0"/>
              <a:t>.</a:t>
            </a:r>
            <a:endParaRPr lang="en-US" dirty="0"/>
          </a:p>
        </p:txBody>
      </p:sp>
    </p:spTree>
    <p:extLst>
      <p:ext uri="{BB962C8B-B14F-4D97-AF65-F5344CB8AC3E}">
        <p14:creationId xmlns:p14="http://schemas.microsoft.com/office/powerpoint/2010/main" val="653524443"/>
      </p:ext>
    </p:extLst>
  </p:cSld>
  <p:clrMapOvr>
    <a:masterClrMapping/>
  </p:clrMapOvr>
  <p:transition advTm="4000">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Key features &amp; Learnings</a:t>
            </a:r>
          </a:p>
        </p:txBody>
      </p:sp>
      <p:sp>
        <p:nvSpPr>
          <p:cNvPr id="6" name="Rectangle 5">
            <a:extLst>
              <a:ext uri="{FF2B5EF4-FFF2-40B4-BE49-F238E27FC236}">
                <a16:creationId xmlns:a16="http://schemas.microsoft.com/office/drawing/2014/main" id="{BE384ED1-6231-726D-BBB8-98CA8FB2F009}"/>
              </a:ext>
            </a:extLst>
          </p:cNvPr>
          <p:cNvSpPr/>
          <p:nvPr/>
        </p:nvSpPr>
        <p:spPr>
          <a:xfrm>
            <a:off x="5714" y="940996"/>
            <a:ext cx="8496944" cy="5917004"/>
          </a:xfrm>
          <a:prstGeom prst="rect">
            <a:avLst/>
          </a:prstGeom>
        </p:spPr>
        <p:txBody>
          <a:bodyPr wrap="square">
            <a:spAutoFit/>
          </a:bodyPr>
          <a:lstStyle/>
          <a:p>
            <a:r>
              <a:rPr lang="en-US" sz="2000" b="1" dirty="0"/>
              <a:t>Social Media Analysis</a:t>
            </a:r>
            <a:r>
              <a:rPr lang="en-US" sz="2000" dirty="0"/>
              <a:t>: Studies the impact of social media on social and political opinions. </a:t>
            </a:r>
          </a:p>
          <a:p>
            <a:endParaRPr lang="en-US" sz="2000" dirty="0"/>
          </a:p>
          <a:p>
            <a:r>
              <a:rPr lang="en-US" sz="2000" b="1" dirty="0"/>
              <a:t>Echo Chamber Identification</a:t>
            </a:r>
            <a:r>
              <a:rPr lang="en-US" sz="2000" dirty="0"/>
              <a:t>: Examines how users are exposed to similar viewpoints online. </a:t>
            </a:r>
          </a:p>
          <a:p>
            <a:endParaRPr lang="en-US" sz="2000" dirty="0"/>
          </a:p>
          <a:p>
            <a:r>
              <a:rPr lang="en-US" sz="2000" b="1" dirty="0"/>
              <a:t>Misinformation Detection</a:t>
            </a:r>
            <a:r>
              <a:rPr lang="en-US" sz="2000" dirty="0"/>
              <a:t>: Analyzes the spread of fake news and biased political content. </a:t>
            </a:r>
          </a:p>
          <a:p>
            <a:endParaRPr lang="en-US" sz="2000" b="1" dirty="0"/>
          </a:p>
          <a:p>
            <a:r>
              <a:rPr lang="en-US" sz="2000" b="1" dirty="0"/>
              <a:t>Public Opinion Study</a:t>
            </a:r>
            <a:r>
              <a:rPr lang="en-US" sz="2000" dirty="0"/>
              <a:t>: Evaluates how online discussions influence public thinking and behavior.</a:t>
            </a:r>
          </a:p>
          <a:p>
            <a:r>
              <a:rPr lang="en-US" sz="2000" dirty="0"/>
              <a:t> </a:t>
            </a:r>
            <a:endParaRPr lang="en-US" sz="2000" b="1" dirty="0"/>
          </a:p>
          <a:p>
            <a:r>
              <a:rPr lang="en-US" sz="2000" b="1" dirty="0" err="1"/>
              <a:t>Polarisation</a:t>
            </a:r>
            <a:r>
              <a:rPr lang="en-US" sz="2000" b="1" dirty="0"/>
              <a:t> Assessment</a:t>
            </a:r>
            <a:r>
              <a:rPr lang="en-US" sz="2000" dirty="0"/>
              <a:t>: Identifies factors responsible for increasing social and political divisions. </a:t>
            </a:r>
          </a:p>
          <a:p>
            <a:endParaRPr lang="en-US" sz="2000" b="1" dirty="0"/>
          </a:p>
          <a:p>
            <a:r>
              <a:rPr lang="en-US" sz="2000" b="1" dirty="0"/>
              <a:t>Data Collection Methods</a:t>
            </a:r>
            <a:r>
              <a:rPr lang="en-US" sz="2000" dirty="0"/>
              <a:t>: Uses surveys, journals, research papers, and online sources for analysis. </a:t>
            </a:r>
          </a:p>
          <a:p>
            <a:endParaRPr lang="en-US" sz="2000" dirty="0"/>
          </a:p>
          <a:p>
            <a:pPr marR="0" lvl="0" algn="l" defTabSz="914400" rtl="0" eaLnBrk="0" fontAlgn="base" latinLnBrk="0" hangingPunct="0">
              <a:lnSpc>
                <a:spcPct val="100000"/>
              </a:lnSpc>
              <a:spcBef>
                <a:spcPct val="0"/>
              </a:spcBef>
              <a:spcAft>
                <a:spcPct val="0"/>
              </a:spcAft>
              <a:buClrTx/>
              <a:buSzTx/>
              <a:tabLst/>
            </a:pPr>
            <a:endParaRPr kumimoji="0" lang="en-US" altLang="en-US" sz="185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8707288"/>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F46A-F75D-2525-D584-3BAEDD8CD76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4046805-E97A-37FF-A0FB-C25DB7E95262}"/>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Technology Stack</a:t>
            </a:r>
          </a:p>
        </p:txBody>
      </p:sp>
      <p:sp>
        <p:nvSpPr>
          <p:cNvPr id="6" name="Rectangle 5">
            <a:extLst>
              <a:ext uri="{FF2B5EF4-FFF2-40B4-BE49-F238E27FC236}">
                <a16:creationId xmlns:a16="http://schemas.microsoft.com/office/drawing/2014/main" id="{5E1D8376-05BD-8706-01A2-D5698C558A99}"/>
              </a:ext>
            </a:extLst>
          </p:cNvPr>
          <p:cNvSpPr/>
          <p:nvPr/>
        </p:nvSpPr>
        <p:spPr>
          <a:xfrm>
            <a:off x="179512" y="1052736"/>
            <a:ext cx="8640960" cy="5632311"/>
          </a:xfrm>
          <a:prstGeom prst="rect">
            <a:avLst/>
          </a:prstGeom>
        </p:spPr>
        <p:txBody>
          <a:bodyPr wrap="square">
            <a:spAutoFit/>
          </a:bodyPr>
          <a:lstStyle/>
          <a:p>
            <a:pPr marL="342900" indent="-342900" algn="just">
              <a:buFont typeface="Wingdings" panose="05000000000000000000" pitchFamily="2" charset="2"/>
              <a:buChar char="q"/>
            </a:pPr>
            <a:r>
              <a:rPr lang="en-GB" sz="2000" b="1" dirty="0">
                <a:latin typeface="Times New Roman" panose="02020603050405020304" pitchFamily="18" charset="0"/>
                <a:cs typeface="Times New Roman" pitchFamily="18" charset="0"/>
              </a:rPr>
              <a:t>Backend: </a:t>
            </a:r>
          </a:p>
          <a:p>
            <a:pPr algn="just"/>
            <a:r>
              <a:rPr lang="en-US" sz="2000" dirty="0">
                <a:latin typeface="Times New Roman" panose="02020603050405020304" pitchFamily="18" charset="0"/>
                <a:cs typeface="Times New Roman" panose="02020603050405020304" pitchFamily="18" charset="0"/>
              </a:rPr>
              <a:t>The backend processing is developed using Python, which handles dataset loading, preprocessing, sentiment analysis, machine learning model training, and prediction tasks. The system processes large-scale social media datasets efficiently and performs automated classification of political content.</a:t>
            </a:r>
          </a:p>
          <a:p>
            <a:pPr marL="342900" indent="-342900" algn="jus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Data Processing</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Data preprocessing is performed using Pandas, NumPy, and regular expression techniques. The datasets collected from Kaggle are cleaned by removing URLs, symbols, stop words, and unnecessary text. The processed textual data is then normalized and transformed into machine-readable format using TF-IDF vectorization for machine learning analysis.</a:t>
            </a:r>
          </a:p>
          <a:p>
            <a:pPr marL="342900" indent="-342900" algn="just">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AI Model Integration:</a:t>
            </a:r>
          </a:p>
          <a:p>
            <a:pPr algn="just"/>
            <a:r>
              <a:rPr lang="en-US" sz="2000" dirty="0">
                <a:latin typeface="Times New Roman" panose="02020603050405020304" pitchFamily="18" charset="0"/>
                <a:cs typeface="Times New Roman" panose="02020603050405020304" pitchFamily="18" charset="0"/>
              </a:rPr>
              <a:t>The system uses Logistic Regression and Random Forest models implemented with Scikit-learn for fake news detection, virality prediction, and manipulative language classification. Sentiment analysis is performed using VADER Sentiment to analyze emotional intensity and political sentiment in social media posts. These models help classify content as fake, viral, manipulative, positive, negative, or neutral.</a:t>
            </a: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90438651"/>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Results and Outputs</a:t>
            </a:r>
          </a:p>
        </p:txBody>
      </p:sp>
      <p:pic>
        <p:nvPicPr>
          <p:cNvPr id="5" name="Picture 4">
            <a:extLst>
              <a:ext uri="{FF2B5EF4-FFF2-40B4-BE49-F238E27FC236}">
                <a16:creationId xmlns:a16="http://schemas.microsoft.com/office/drawing/2014/main" id="{CEF466E1-D356-9F1F-044F-498BBFF2C6CA}"/>
              </a:ext>
            </a:extLst>
          </p:cNvPr>
          <p:cNvPicPr>
            <a:picLocks noChangeAspect="1"/>
          </p:cNvPicPr>
          <p:nvPr/>
        </p:nvPicPr>
        <p:blipFill>
          <a:blip r:embed="rId2"/>
          <a:stretch>
            <a:fillRect/>
          </a:stretch>
        </p:blipFill>
        <p:spPr>
          <a:xfrm>
            <a:off x="323528" y="1052736"/>
            <a:ext cx="7668344" cy="5020080"/>
          </a:xfrm>
          <a:prstGeom prst="rect">
            <a:avLst/>
          </a:prstGeom>
        </p:spPr>
      </p:pic>
    </p:spTree>
    <p:extLst>
      <p:ext uri="{BB962C8B-B14F-4D97-AF65-F5344CB8AC3E}">
        <p14:creationId xmlns:p14="http://schemas.microsoft.com/office/powerpoint/2010/main" val="2863939616"/>
      </p:ext>
    </p:extLst>
  </p:cSld>
  <p:clrMapOvr>
    <a:masterClrMapping/>
  </p:clrMapOvr>
  <p:transition advTm="4000">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6671-959E-D47E-DEF9-90241847BF5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4161A2-EFBB-9DBC-7EF0-D4ACD677D4CC}"/>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Results and Output</a:t>
            </a:r>
          </a:p>
        </p:txBody>
      </p:sp>
      <p:pic>
        <p:nvPicPr>
          <p:cNvPr id="5" name="Picture 4">
            <a:extLst>
              <a:ext uri="{FF2B5EF4-FFF2-40B4-BE49-F238E27FC236}">
                <a16:creationId xmlns:a16="http://schemas.microsoft.com/office/drawing/2014/main" id="{4F38A353-7855-8660-74ED-4539F4858FC1}"/>
              </a:ext>
            </a:extLst>
          </p:cNvPr>
          <p:cNvPicPr>
            <a:picLocks noChangeAspect="1"/>
          </p:cNvPicPr>
          <p:nvPr/>
        </p:nvPicPr>
        <p:blipFill>
          <a:blip r:embed="rId2"/>
          <a:stretch>
            <a:fillRect/>
          </a:stretch>
        </p:blipFill>
        <p:spPr>
          <a:xfrm>
            <a:off x="319087" y="1124744"/>
            <a:ext cx="8505825" cy="5318918"/>
          </a:xfrm>
          <a:prstGeom prst="rect">
            <a:avLst/>
          </a:prstGeom>
        </p:spPr>
      </p:pic>
    </p:spTree>
    <p:extLst>
      <p:ext uri="{BB962C8B-B14F-4D97-AF65-F5344CB8AC3E}">
        <p14:creationId xmlns:p14="http://schemas.microsoft.com/office/powerpoint/2010/main" val="1358749465"/>
      </p:ext>
    </p:extLst>
  </p:cSld>
  <p:clrMapOvr>
    <a:masterClrMapping/>
  </p:clrMapOvr>
  <p:transition advTm="4000">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Conclusion</a:t>
            </a:r>
          </a:p>
        </p:txBody>
      </p:sp>
      <p:sp>
        <p:nvSpPr>
          <p:cNvPr id="3" name="Rectangle 2"/>
          <p:cNvSpPr/>
          <p:nvPr/>
        </p:nvSpPr>
        <p:spPr>
          <a:xfrm>
            <a:off x="208152" y="1484784"/>
            <a:ext cx="8964488" cy="3170099"/>
          </a:xfrm>
          <a:prstGeom prst="rect">
            <a:avLst/>
          </a:prstGeom>
        </p:spPr>
        <p:txBody>
          <a:bodyPr wrap="square">
            <a:spAutoFit/>
          </a:bodyPr>
          <a:lstStyle/>
          <a:p>
            <a:pPr algn="just"/>
            <a:r>
              <a:rPr lang="en-US" sz="2000" dirty="0"/>
              <a:t>Social media algorithms have a strong influence on the way people receive political </a:t>
            </a:r>
          </a:p>
          <a:p>
            <a:pPr algn="just"/>
            <a:r>
              <a:rPr lang="en-US" sz="2000" dirty="0"/>
              <a:t>information and interact online. Engagement-based systems often promote emotional and controversial content to increase user </a:t>
            </a:r>
            <a:r>
              <a:rPr lang="en-US" sz="2000" dirty="0" err="1"/>
              <a:t>activity.This</a:t>
            </a:r>
            <a:r>
              <a:rPr lang="en-US" sz="2000" dirty="0"/>
              <a:t> creates echo chambers where users mostly see opinions similar to their own </a:t>
            </a:r>
            <a:r>
              <a:rPr lang="en-US" sz="2000" dirty="0" err="1"/>
              <a:t>beliefs.The</a:t>
            </a:r>
            <a:r>
              <a:rPr lang="en-US" sz="2000" dirty="0"/>
              <a:t> spread of misinformation and biased political content further increases social and political </a:t>
            </a:r>
            <a:r>
              <a:rPr lang="en-US" sz="2000" dirty="0" err="1"/>
              <a:t>divisions.Machine</a:t>
            </a:r>
            <a:r>
              <a:rPr lang="en-US" sz="2000" dirty="0"/>
              <a:t> learning analysis also shows a connection between engagement and the visibility of manipulative </a:t>
            </a:r>
            <a:r>
              <a:rPr lang="en-US" sz="2000" dirty="0" err="1"/>
              <a:t>content.Therefore</a:t>
            </a:r>
            <a:r>
              <a:rPr lang="en-US" sz="2000" dirty="0"/>
              <a:t>, social media platforms contribute significantly to political </a:t>
            </a:r>
            <a:r>
              <a:rPr lang="en-US" sz="2000" dirty="0" err="1"/>
              <a:t>polarisation</a:t>
            </a:r>
            <a:r>
              <a:rPr lang="en-US" sz="2000" dirty="0"/>
              <a:t> in modern society.</a:t>
            </a:r>
          </a:p>
          <a:p>
            <a:endParaRPr lang="en-US" sz="2000" dirty="0"/>
          </a:p>
          <a:p>
            <a:pPr marL="342900" lvl="0" indent="-342900">
              <a:buFont typeface="Wingdings" panose="05000000000000000000" pitchFamily="2" charset="2"/>
              <a:buChar char="q"/>
            </a:pPr>
            <a:endParaRPr lang="en-US" sz="20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5953028"/>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88D35-6006-DB81-C002-0D8F1897EF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D2E743-E659-8546-50B7-DB544E124E37}"/>
              </a:ext>
            </a:extLst>
          </p:cNvPr>
          <p:cNvSpPr txBox="1"/>
          <p:nvPr/>
        </p:nvSpPr>
        <p:spPr>
          <a:xfrm>
            <a:off x="0" y="260648"/>
            <a:ext cx="5868144" cy="584775"/>
          </a:xfrm>
          <a:prstGeom prst="rect">
            <a:avLst/>
          </a:prstGeom>
          <a:noFill/>
        </p:spPr>
        <p:txBody>
          <a:bodyPr wrap="square" rtlCol="0">
            <a:spAutoFit/>
          </a:bodyPr>
          <a:lstStyle/>
          <a:p>
            <a:r>
              <a:rPr lang="en-US" sz="3200" b="1" dirty="0">
                <a:latin typeface="Times New Roman" pitchFamily="18" charset="0"/>
                <a:cs typeface="Times New Roman" pitchFamily="18" charset="0"/>
              </a:rPr>
              <a:t>Future Scope</a:t>
            </a:r>
          </a:p>
        </p:txBody>
      </p:sp>
      <p:sp>
        <p:nvSpPr>
          <p:cNvPr id="3" name="Rectangle 2">
            <a:extLst>
              <a:ext uri="{FF2B5EF4-FFF2-40B4-BE49-F238E27FC236}">
                <a16:creationId xmlns:a16="http://schemas.microsoft.com/office/drawing/2014/main" id="{8803495D-B7DA-39CE-0ABD-E9CC0847F58E}"/>
              </a:ext>
            </a:extLst>
          </p:cNvPr>
          <p:cNvSpPr/>
          <p:nvPr/>
        </p:nvSpPr>
        <p:spPr>
          <a:xfrm>
            <a:off x="179512" y="1052736"/>
            <a:ext cx="8784976" cy="4093428"/>
          </a:xfrm>
          <a:prstGeom prst="rect">
            <a:avLst/>
          </a:prstGeom>
        </p:spPr>
        <p:txBody>
          <a:bodyPr wrap="square">
            <a:spAutoFit/>
          </a:bodyPr>
          <a:lstStyle/>
          <a:p>
            <a:pPr marL="342900" lvl="0" indent="-342900">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Improved Model Accuracy:</a:t>
            </a:r>
            <a:r>
              <a:rPr lang="en-US" sz="2000" dirty="0">
                <a:latin typeface="Times New Roman" panose="02020603050405020304" pitchFamily="18" charset="0"/>
                <a:cs typeface="Times New Roman" panose="02020603050405020304" pitchFamily="18" charset="0"/>
              </a:rPr>
              <a:t> Enhance detection using larger datasets and advanced hybrid AI models.</a:t>
            </a:r>
          </a:p>
          <a:p>
            <a:pPr marL="342900" lvl="0" indent="-34290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Mobile Application Development:</a:t>
            </a:r>
            <a:r>
              <a:rPr lang="en-US" sz="2000" dirty="0">
                <a:latin typeface="Times New Roman" panose="02020603050405020304" pitchFamily="18" charset="0"/>
                <a:cs typeface="Times New Roman" panose="02020603050405020304" pitchFamily="18" charset="0"/>
              </a:rPr>
              <a:t> Extend the system to Android/iOS for on-the-go deepfake detection.</a:t>
            </a:r>
          </a:p>
          <a:p>
            <a:pPr marL="342900" lvl="0" indent="-34290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Cloud Deployment &amp; Scalability:</a:t>
            </a:r>
            <a:r>
              <a:rPr lang="en-US" sz="2000" dirty="0">
                <a:latin typeface="Times New Roman" panose="02020603050405020304" pitchFamily="18" charset="0"/>
                <a:cs typeface="Times New Roman" panose="02020603050405020304" pitchFamily="18" charset="0"/>
              </a:rPr>
              <a:t> Deploy on cloud platforms for large-scale, real-time processing.</a:t>
            </a:r>
          </a:p>
          <a:p>
            <a:pPr marL="342900" lvl="0" indent="-34290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Integration with Social Media Platforms:</a:t>
            </a:r>
            <a:r>
              <a:rPr lang="en-US" sz="2000" dirty="0">
                <a:latin typeface="Times New Roman" panose="02020603050405020304" pitchFamily="18" charset="0"/>
                <a:cs typeface="Times New Roman" panose="02020603050405020304" pitchFamily="18" charset="0"/>
              </a:rPr>
              <a:t> Enable automatic detection of deepfake content on online platforms.</a:t>
            </a:r>
          </a:p>
          <a:p>
            <a:pPr marL="342900" lvl="0" indent="-342900">
              <a:buFont typeface="Wingdings" panose="05000000000000000000" pitchFamily="2" charset="2"/>
              <a:buChar char="q"/>
            </a:pPr>
            <a:endParaRPr lang="en-US"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q"/>
            </a:pPr>
            <a:endParaRPr lang="en-US" sz="20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8914690"/>
      </p:ext>
    </p:extLst>
  </p:cSld>
  <p:clrMapOvr>
    <a:masterClrMapping/>
  </p:clrMapOvr>
  <mc:AlternateContent xmlns:mc="http://schemas.openxmlformats.org/markup-compatibility/2006" xmlns:p14="http://schemas.microsoft.com/office/powerpoint/2010/main">
    <mc:Choice Requires="p14">
      <p:transition p14:dur="0" advTm="4000"/>
    </mc:Choice>
    <mc:Fallback xmlns="">
      <p:transition advTm="4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4"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2" name="AutoShape 8" descr="Download The Best Thank You Slide For PPT Presen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Thank you cards Images | Free Vectors, Stock Photos &amp; PSD"/>
          <p:cNvPicPr>
            <a:picLocks noChangeAspect="1" noChangeArrowheads="1"/>
          </p:cNvPicPr>
          <p:nvPr/>
        </p:nvPicPr>
        <p:blipFill>
          <a:blip r:embed="rId2" cstate="print"/>
          <a:srcRect/>
          <a:stretch>
            <a:fillRect/>
          </a:stretch>
        </p:blipFill>
        <p:spPr bwMode="auto">
          <a:xfrm>
            <a:off x="304800" y="1124744"/>
            <a:ext cx="8460432" cy="5353905"/>
          </a:xfrm>
          <a:prstGeom prst="rect">
            <a:avLst/>
          </a:prstGeom>
          <a:noFill/>
        </p:spPr>
      </p:pic>
    </p:spTree>
  </p:cSld>
  <p:clrMapOvr>
    <a:masterClrMapping/>
  </p:clrMapOvr>
  <p:transition advTm="4000">
    <p:cut/>
  </p:transition>
</p:sld>
</file>

<file path=ppt/theme/theme1.xml><?xml version="1.0" encoding="utf-8"?>
<a:theme xmlns:a="http://schemas.openxmlformats.org/drawingml/2006/main" name="Bubble S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3185</TotalTime>
  <Words>1042</Words>
  <Application>Microsoft Office PowerPoint</Application>
  <PresentationFormat>On-screen Show (4:3)</PresentationFormat>
  <Paragraphs>63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Times New Roman</vt:lpstr>
      <vt:lpstr>Wingdings</vt:lpstr>
      <vt:lpstr>Bubble Sort</vt:lpstr>
      <vt:lpstr>PowerPoint Presentation</vt:lpstr>
      <vt:lpstr>Introduction</vt:lpstr>
      <vt:lpstr>PowerPoint Presentation</vt:lpstr>
      <vt:lpstr>Objective</vt:lpstr>
      <vt:lpstr>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Cricket</dc:title>
  <dc:creator>abc</dc:creator>
  <cp:lastModifiedBy>Bhupesh Relan</cp:lastModifiedBy>
  <cp:revision>136</cp:revision>
  <dcterms:created xsi:type="dcterms:W3CDTF">2022-12-12T14:14:34Z</dcterms:created>
  <dcterms:modified xsi:type="dcterms:W3CDTF">2026-05-14T04:18:28Z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2024-05-15T12:29:59Z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72cdbcd3-6b3c-467e-b9b8-018dc42d10b7</vt:lpwstr>
  </property>
  <property fmtid="{D5CDD505-2E9C-101B-9397-08002B2CF9AE}" pid="7" name="MSIP_Label_defa4170-0d19-0005-0004-bc88714345d2_ActionId">
    <vt:lpwstr>cad06670-6b62-47c2-8dce-60115a911aec</vt:lpwstr>
  </property>
  <property fmtid="{D5CDD505-2E9C-101B-9397-08002B2CF9AE}" pid="8" name="MSIP_Label_defa4170-0d19-0005-0004-bc88714345d2_ContentBits">
    <vt:lpwstr>0</vt:lpwstr>
  </property>
</Properties>
</file>
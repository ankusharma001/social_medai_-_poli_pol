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6" r:id="rId3"/>
    <p:sldId id="267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8E42"/>
    <a:srgbClr val="4CA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7546E-A60B-4C74-86A4-71267322E8B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AB07D-F9DF-4227-B614-208115C13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0154-1F94-5ECD-ABD4-15EA329A3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BED3B-5E89-B70A-4C38-31A69C7EB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6644A-B327-9FF7-0A2B-12298182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6BBF1-0061-0708-7E27-3696326B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2A646-218E-5F66-89C8-5E1E17118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88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C9A4-9441-02C9-7034-C87B1154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8A8D0-FD9C-FD0B-8AEB-67EB0BEF2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9620B-0D2B-721F-5272-13BEAEBF6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F1742-DAF9-85D6-15F9-9CB0F0C7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FD6D3-E23C-A86B-6DDE-809FC30A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3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FF5A-326B-652A-9D2C-8FEDAC0E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7E7E5-0C1D-2896-C840-37123AD3C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DE0F-4BFF-3858-E0DB-07B29C29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D9280-2687-714C-1A64-EA1AC9AE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01434-9280-DE45-480A-0DA13E02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6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19E0-672E-D349-07F7-DF938CC1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6686-FC0C-4073-27F0-A800B0E5D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CAB97-BF2F-7514-9D9A-03755D3AF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A08-3D46-9FCC-B0C5-FCC47D645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8E79D-75FF-1E05-4469-804E76AF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1B8C9-941B-D6F8-DDB5-A55544BD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7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7142-1185-16DF-93CE-08645497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77854-0397-C5F5-24E6-FA6CF4932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C83F2-FF2A-C47B-6487-78E119F8D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EFFAF9-1142-898A-FD54-77F5AC0D0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955D6-2E87-0FCB-7535-53A952AF8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B40B0-A270-D008-74AB-F9C536C2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62FA83-E95C-6A75-2676-9D0104C1E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FD8E4-2C74-6284-4CDD-CB65E0B4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1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570B-BED3-2D79-813C-F6522E40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954222-F2B1-5908-46B6-2C3D059F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5F5A4-3010-C1EA-3FF5-FD3012CA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690A6-5B40-B1D8-E838-9179571E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7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8DA36-4249-EB6A-2B66-1F84273E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78122-A55A-66F5-861E-472BE95F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BFBBF-31BD-0DDE-1514-1BD22B09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2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D73F-277C-638B-F045-B19DF6424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BB356-1399-1BD6-5CAE-F74C7D973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32DF4-357E-4D93-3E31-5D93C94A2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9D7DF-A2DF-FB12-CD44-78D79707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806EF-5FA2-1483-C328-86008FBA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FA3B2-FC99-424B-EE8C-31271CEC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97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B84D2-ED92-A4E0-4FA5-1C9E2EB57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D612F1-955A-55B6-72CE-A1CC14681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8ABB5-59F5-CF76-2505-9094C17FD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F48D3-3374-7437-2DA8-AE9C98EB8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AED72-CF57-0B5F-22B2-AC319CE6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9B3D0-4E0E-14B2-C127-A42F84C21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7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C422-4E94-20F8-C5C7-C6A31F53F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6548F0-FEE1-424C-8E1F-9015F06C6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08225-8079-675B-4688-FA2557E9F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FDDA-50F6-93F1-DBD2-4E3CD0C2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EF131-5230-7FBB-D46E-58FBDB58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4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E62ED7-6FAA-6216-137A-DB34C353B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EFE5E-4EA7-91FD-6B56-29026AEE9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85954-9866-6E60-08C3-02136750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FECB3-E0CC-0BDA-B1B4-5A996B75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E6221-094B-B742-F7B0-1FC7E0A8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7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DBBC78-9C53-6DA1-DA38-29CA714EA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ACCAF-0892-38C4-064F-974FBEEE5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3F003-49B3-FD94-65E1-E847B15A3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C8300-65F0-408F-AF1F-1D0CE5BF5427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389F6-DE5D-8F93-6C69-761AD97A3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AD008-46CF-BCBB-4E47-52197F44C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36F62-9FC3-4C74-8983-C1FAAD43E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2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77B0-1B8E-5885-9C56-6D215A1D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1777365"/>
            <a:ext cx="11557000" cy="2723515"/>
          </a:xfrm>
        </p:spPr>
        <p:txBody>
          <a:bodyPr>
            <a:noAutofit/>
          </a:bodyPr>
          <a:lstStyle/>
          <a:p>
            <a:pPr algn="ctr"/>
            <a:r>
              <a:rPr lang="en-IN" sz="6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Algorithm &amp;</a:t>
            </a:r>
            <a:br>
              <a:rPr lang="en-IN" sz="6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Political Polarization</a:t>
            </a:r>
            <a:endParaRPr lang="en-US" sz="6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409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35211D-85AC-E922-C57D-5B3350A28977}"/>
              </a:ext>
            </a:extLst>
          </p:cNvPr>
          <p:cNvSpPr txBox="1"/>
          <p:nvPr/>
        </p:nvSpPr>
        <p:spPr>
          <a:xfrm>
            <a:off x="1148080" y="324923"/>
            <a:ext cx="10739120" cy="1270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1000"/>
              </a:lnSpc>
              <a:buNone/>
            </a:pP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Playfair Display Semi Bold" pitchFamily="34" charset="-122"/>
                <a:cs typeface="Times New Roman" panose="02020603050405020304" pitchFamily="18" charset="0"/>
              </a:rPr>
              <a:t>Are we choosing what we see or is it choosing us?</a:t>
            </a:r>
            <a:endParaRPr lang="en-US" sz="4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3B57128-94D3-5BAF-780D-B7C46AC1967B}"/>
              </a:ext>
            </a:extLst>
          </p:cNvPr>
          <p:cNvGrpSpPr/>
          <p:nvPr/>
        </p:nvGrpSpPr>
        <p:grpSpPr>
          <a:xfrm>
            <a:off x="5707125" y="2579942"/>
            <a:ext cx="731520" cy="808990"/>
            <a:chOff x="6750853" y="3072483"/>
            <a:chExt cx="731520" cy="80899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7A235F22-5627-A356-69C1-CC1D65FC20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0514" y="3643553"/>
              <a:ext cx="189795" cy="237410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C88432F9-4539-3BE9-9672-C2D8276347E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5266" y="3367856"/>
              <a:ext cx="86681" cy="115674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DC4FA484-BABB-A51A-4BF6-31D9DFCB425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0853" y="3453125"/>
              <a:ext cx="114366" cy="123187"/>
            </a:xfrm>
            <a:prstGeom prst="rect">
              <a:avLst/>
            </a:prstGeom>
          </p:spPr>
        </p:pic>
        <p:pic>
          <p:nvPicPr>
            <p:cNvPr id="10" name="object 7">
              <a:extLst>
                <a:ext uri="{FF2B5EF4-FFF2-40B4-BE49-F238E27FC236}">
                  <a16:creationId xmlns:a16="http://schemas.microsoft.com/office/drawing/2014/main" id="{F2AF7195-50D4-C2A6-A754-E0A4B49AD57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6411" y="3072483"/>
              <a:ext cx="215122" cy="219581"/>
            </a:xfrm>
            <a:prstGeom prst="rect">
              <a:avLst/>
            </a:prstGeom>
          </p:spPr>
        </p:pic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2AAD5995-1559-E45F-9CF1-00C4FDFFC8FA}"/>
                </a:ext>
              </a:extLst>
            </p:cNvPr>
            <p:cNvSpPr/>
            <p:nvPr/>
          </p:nvSpPr>
          <p:spPr>
            <a:xfrm>
              <a:off x="6858191" y="3317694"/>
              <a:ext cx="504190" cy="310515"/>
            </a:xfrm>
            <a:custGeom>
              <a:avLst/>
              <a:gdLst/>
              <a:ahLst/>
              <a:cxnLst/>
              <a:rect l="l" t="t" r="r" b="b"/>
              <a:pathLst>
                <a:path w="504190" h="310514">
                  <a:moveTo>
                    <a:pt x="193680" y="269827"/>
                  </a:moveTo>
                  <a:lnTo>
                    <a:pt x="266675" y="24279"/>
                  </a:lnTo>
                  <a:lnTo>
                    <a:pt x="267141" y="15375"/>
                  </a:lnTo>
                  <a:lnTo>
                    <a:pt x="263709" y="7597"/>
                  </a:lnTo>
                  <a:lnTo>
                    <a:pt x="257232" y="2090"/>
                  </a:lnTo>
                  <a:lnTo>
                    <a:pt x="248564" y="0"/>
                  </a:lnTo>
                  <a:lnTo>
                    <a:pt x="213102" y="0"/>
                  </a:lnTo>
                  <a:lnTo>
                    <a:pt x="204685" y="0"/>
                  </a:lnTo>
                  <a:lnTo>
                    <a:pt x="197282" y="5568"/>
                  </a:lnTo>
                  <a:lnTo>
                    <a:pt x="194948" y="13655"/>
                  </a:lnTo>
                  <a:lnTo>
                    <a:pt x="136960" y="214541"/>
                  </a:lnTo>
                  <a:lnTo>
                    <a:pt x="135634" y="219140"/>
                  </a:lnTo>
                  <a:lnTo>
                    <a:pt x="129092" y="219074"/>
                  </a:lnTo>
                  <a:lnTo>
                    <a:pt x="127858" y="214450"/>
                  </a:lnTo>
                  <a:lnTo>
                    <a:pt x="74339" y="14019"/>
                  </a:lnTo>
                  <a:lnTo>
                    <a:pt x="72132" y="5751"/>
                  </a:lnTo>
                  <a:lnTo>
                    <a:pt x="64642" y="0"/>
                  </a:lnTo>
                  <a:lnTo>
                    <a:pt x="56084" y="0"/>
                  </a:lnTo>
                  <a:lnTo>
                    <a:pt x="18557" y="0"/>
                  </a:lnTo>
                  <a:lnTo>
                    <a:pt x="9924" y="2072"/>
                  </a:lnTo>
                  <a:lnTo>
                    <a:pt x="3455" y="7538"/>
                  </a:lnTo>
                  <a:lnTo>
                    <a:pt x="0" y="15270"/>
                  </a:lnTo>
                  <a:lnTo>
                    <a:pt x="405" y="24140"/>
                  </a:lnTo>
                  <a:lnTo>
                    <a:pt x="71272" y="269410"/>
                  </a:lnTo>
                  <a:lnTo>
                    <a:pt x="107555" y="307371"/>
                  </a:lnTo>
                  <a:lnTo>
                    <a:pt x="125729" y="310358"/>
                  </a:lnTo>
                  <a:lnTo>
                    <a:pt x="139346" y="310358"/>
                  </a:lnTo>
                  <a:lnTo>
                    <a:pt x="157414" y="307407"/>
                  </a:lnTo>
                  <a:lnTo>
                    <a:pt x="173240" y="299109"/>
                  </a:lnTo>
                  <a:lnTo>
                    <a:pt x="185703" y="286304"/>
                  </a:lnTo>
                  <a:lnTo>
                    <a:pt x="193680" y="269827"/>
                  </a:lnTo>
                  <a:close/>
                </a:path>
                <a:path w="504190" h="310514">
                  <a:moveTo>
                    <a:pt x="383861" y="245844"/>
                  </a:moveTo>
                  <a:lnTo>
                    <a:pt x="371325" y="245285"/>
                  </a:lnTo>
                  <a:lnTo>
                    <a:pt x="358909" y="243722"/>
                  </a:lnTo>
                  <a:lnTo>
                    <a:pt x="346885" y="241326"/>
                  </a:lnTo>
                  <a:lnTo>
                    <a:pt x="335522" y="238265"/>
                  </a:lnTo>
                  <a:lnTo>
                    <a:pt x="326485" y="237385"/>
                  </a:lnTo>
                  <a:lnTo>
                    <a:pt x="318016" y="239902"/>
                  </a:lnTo>
                  <a:lnTo>
                    <a:pt x="311301" y="245382"/>
                  </a:lnTo>
                  <a:lnTo>
                    <a:pt x="307525" y="253394"/>
                  </a:lnTo>
                  <a:lnTo>
                    <a:pt x="301974" y="279932"/>
                  </a:lnTo>
                  <a:lnTo>
                    <a:pt x="300236" y="288238"/>
                  </a:lnTo>
                  <a:lnTo>
                    <a:pt x="343066" y="307145"/>
                  </a:lnTo>
                  <a:lnTo>
                    <a:pt x="380348" y="310368"/>
                  </a:lnTo>
                  <a:lnTo>
                    <a:pt x="434045" y="302909"/>
                  </a:lnTo>
                  <a:lnTo>
                    <a:pt x="472583" y="282476"/>
                  </a:lnTo>
                  <a:lnTo>
                    <a:pt x="495813" y="251987"/>
                  </a:lnTo>
                  <a:lnTo>
                    <a:pt x="503590" y="214359"/>
                  </a:lnTo>
                  <a:lnTo>
                    <a:pt x="499439" y="186973"/>
                  </a:lnTo>
                  <a:lnTo>
                    <a:pt x="486474" y="162900"/>
                  </a:lnTo>
                  <a:lnTo>
                    <a:pt x="463922" y="142155"/>
                  </a:lnTo>
                  <a:lnTo>
                    <a:pt x="431013" y="124756"/>
                  </a:lnTo>
                  <a:lnTo>
                    <a:pt x="407379" y="114355"/>
                  </a:lnTo>
                  <a:lnTo>
                    <a:pt x="391760" y="105720"/>
                  </a:lnTo>
                  <a:lnTo>
                    <a:pt x="383135" y="97291"/>
                  </a:lnTo>
                  <a:lnTo>
                    <a:pt x="380486" y="87507"/>
                  </a:lnTo>
                  <a:lnTo>
                    <a:pt x="382899" y="78170"/>
                  </a:lnTo>
                  <a:lnTo>
                    <a:pt x="390044" y="70746"/>
                  </a:lnTo>
                  <a:lnTo>
                    <a:pt x="401783" y="65845"/>
                  </a:lnTo>
                  <a:lnTo>
                    <a:pt x="417977" y="64076"/>
                  </a:lnTo>
                  <a:lnTo>
                    <a:pt x="428257" y="64452"/>
                  </a:lnTo>
                  <a:lnTo>
                    <a:pt x="437791" y="65494"/>
                  </a:lnTo>
                  <a:lnTo>
                    <a:pt x="446567" y="67068"/>
                  </a:lnTo>
                  <a:lnTo>
                    <a:pt x="454569" y="69041"/>
                  </a:lnTo>
                  <a:lnTo>
                    <a:pt x="463303" y="69782"/>
                  </a:lnTo>
                  <a:lnTo>
                    <a:pt x="487763" y="29137"/>
                  </a:lnTo>
                  <a:lnTo>
                    <a:pt x="488148" y="22599"/>
                  </a:lnTo>
                  <a:lnTo>
                    <a:pt x="486324" y="16555"/>
                  </a:lnTo>
                  <a:lnTo>
                    <a:pt x="450786" y="2375"/>
                  </a:lnTo>
                  <a:lnTo>
                    <a:pt x="418485" y="9"/>
                  </a:lnTo>
                  <a:lnTo>
                    <a:pt x="368522" y="7334"/>
                  </a:lnTo>
                  <a:lnTo>
                    <a:pt x="331891" y="27375"/>
                  </a:lnTo>
                  <a:lnTo>
                    <a:pt x="309352" y="57232"/>
                  </a:lnTo>
                  <a:lnTo>
                    <a:pt x="301670" y="94005"/>
                  </a:lnTo>
                  <a:lnTo>
                    <a:pt x="306595" y="121037"/>
                  </a:lnTo>
                  <a:lnTo>
                    <a:pt x="321241" y="144898"/>
                  </a:lnTo>
                  <a:lnTo>
                    <a:pt x="345412" y="165610"/>
                  </a:lnTo>
                  <a:lnTo>
                    <a:pt x="378914" y="183194"/>
                  </a:lnTo>
                  <a:lnTo>
                    <a:pt x="399609" y="192283"/>
                  </a:lnTo>
                  <a:lnTo>
                    <a:pt x="413769" y="200882"/>
                  </a:lnTo>
                  <a:lnTo>
                    <a:pt x="421897" y="209928"/>
                  </a:lnTo>
                  <a:lnTo>
                    <a:pt x="424494" y="220355"/>
                  </a:lnTo>
                  <a:lnTo>
                    <a:pt x="421896" y="230766"/>
                  </a:lnTo>
                  <a:lnTo>
                    <a:pt x="414180" y="238814"/>
                  </a:lnTo>
                  <a:lnTo>
                    <a:pt x="401463" y="244004"/>
                  </a:lnTo>
                  <a:lnTo>
                    <a:pt x="383861" y="245844"/>
                  </a:lnTo>
                  <a:close/>
                </a:path>
              </a:pathLst>
            </a:custGeom>
            <a:ln w="25193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77D40CB-3A0B-0D26-8B36-08695425D1F8}"/>
              </a:ext>
            </a:extLst>
          </p:cNvPr>
          <p:cNvSpPr/>
          <p:nvPr/>
        </p:nvSpPr>
        <p:spPr>
          <a:xfrm>
            <a:off x="7450314" y="2086423"/>
            <a:ext cx="2001520" cy="1828457"/>
          </a:xfrm>
          <a:prstGeom prst="flowChartConnector">
            <a:avLst/>
          </a:prstGeom>
          <a:solidFill>
            <a:schemeClr val="accent1">
              <a:lumMod val="75000"/>
              <a:alpha val="9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ECAAE873-71D7-B40E-BFCD-FAF9981EC64D}"/>
              </a:ext>
            </a:extLst>
          </p:cNvPr>
          <p:cNvSpPr/>
          <p:nvPr/>
        </p:nvSpPr>
        <p:spPr>
          <a:xfrm>
            <a:off x="3081508" y="2064282"/>
            <a:ext cx="2001520" cy="1828457"/>
          </a:xfrm>
          <a:prstGeom prst="flowChartConnector">
            <a:avLst/>
          </a:prstGeom>
          <a:solidFill>
            <a:srgbClr val="3E8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object 9">
            <a:extLst>
              <a:ext uri="{FF2B5EF4-FFF2-40B4-BE49-F238E27FC236}">
                <a16:creationId xmlns:a16="http://schemas.microsoft.com/office/drawing/2014/main" id="{3D24E3CC-893B-C0A9-43D9-32F336ACE51A}"/>
              </a:ext>
            </a:extLst>
          </p:cNvPr>
          <p:cNvGrpSpPr/>
          <p:nvPr/>
        </p:nvGrpSpPr>
        <p:grpSpPr>
          <a:xfrm>
            <a:off x="8534112" y="2617035"/>
            <a:ext cx="422275" cy="781050"/>
            <a:chOff x="9181908" y="3086155"/>
            <a:chExt cx="422275" cy="781050"/>
          </a:xfrm>
        </p:grpSpPr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4DEF8DE8-BC74-643C-1C98-B86E6704ED10}"/>
                </a:ext>
              </a:extLst>
            </p:cNvPr>
            <p:cNvSpPr/>
            <p:nvPr/>
          </p:nvSpPr>
          <p:spPr>
            <a:xfrm>
              <a:off x="9194505" y="3098752"/>
              <a:ext cx="88265" cy="151765"/>
            </a:xfrm>
            <a:custGeom>
              <a:avLst/>
              <a:gdLst/>
              <a:ahLst/>
              <a:cxnLst/>
              <a:rect l="l" t="t" r="r" b="b"/>
              <a:pathLst>
                <a:path w="88265" h="151764">
                  <a:moveTo>
                    <a:pt x="87745" y="45725"/>
                  </a:moveTo>
                  <a:lnTo>
                    <a:pt x="81164" y="60168"/>
                  </a:lnTo>
                  <a:lnTo>
                    <a:pt x="78970" y="75579"/>
                  </a:lnTo>
                  <a:lnTo>
                    <a:pt x="81164" y="90989"/>
                  </a:lnTo>
                  <a:lnTo>
                    <a:pt x="87745" y="105433"/>
                  </a:lnTo>
                </a:path>
                <a:path w="88265" h="151764">
                  <a:moveTo>
                    <a:pt x="31438" y="0"/>
                  </a:moveTo>
                  <a:lnTo>
                    <a:pt x="18036" y="16258"/>
                  </a:lnTo>
                  <a:lnTo>
                    <a:pt x="8173" y="34650"/>
                  </a:lnTo>
                  <a:lnTo>
                    <a:pt x="2082" y="54612"/>
                  </a:lnTo>
                  <a:lnTo>
                    <a:pt x="0" y="75579"/>
                  </a:lnTo>
                  <a:lnTo>
                    <a:pt x="2082" y="96545"/>
                  </a:lnTo>
                  <a:lnTo>
                    <a:pt x="8173" y="116507"/>
                  </a:lnTo>
                  <a:lnTo>
                    <a:pt x="18036" y="134900"/>
                  </a:lnTo>
                  <a:lnTo>
                    <a:pt x="31438" y="151158"/>
                  </a:lnTo>
                </a:path>
              </a:pathLst>
            </a:custGeom>
            <a:ln w="25193">
              <a:solidFill>
                <a:srgbClr val="4E91FC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  <p:pic>
          <p:nvPicPr>
            <p:cNvPr id="16" name="object 11">
              <a:extLst>
                <a:ext uri="{FF2B5EF4-FFF2-40B4-BE49-F238E27FC236}">
                  <a16:creationId xmlns:a16="http://schemas.microsoft.com/office/drawing/2014/main" id="{DC0B5248-3BEC-C158-81A2-E5F7A4585EB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3140" y="3086155"/>
              <a:ext cx="214141" cy="214141"/>
            </a:xfrm>
            <a:prstGeom prst="rect">
              <a:avLst/>
            </a:prstGeom>
          </p:spPr>
        </p:pic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BB9C6FB3-A0B1-E4DD-646E-DDCA950D6A14}"/>
                </a:ext>
              </a:extLst>
            </p:cNvPr>
            <p:cNvSpPr/>
            <p:nvPr/>
          </p:nvSpPr>
          <p:spPr>
            <a:xfrm>
              <a:off x="9289052" y="3325490"/>
              <a:ext cx="302895" cy="529590"/>
            </a:xfrm>
            <a:custGeom>
              <a:avLst/>
              <a:gdLst/>
              <a:ahLst/>
              <a:cxnLst/>
              <a:rect l="l" t="t" r="r" b="b"/>
              <a:pathLst>
                <a:path w="302895" h="529589">
                  <a:moveTo>
                    <a:pt x="302317" y="151158"/>
                  </a:moveTo>
                  <a:lnTo>
                    <a:pt x="294611" y="103380"/>
                  </a:lnTo>
                  <a:lnTo>
                    <a:pt x="273152" y="61886"/>
                  </a:lnTo>
                  <a:lnTo>
                    <a:pt x="240430" y="29164"/>
                  </a:lnTo>
                  <a:lnTo>
                    <a:pt x="198936" y="7706"/>
                  </a:lnTo>
                  <a:lnTo>
                    <a:pt x="151158" y="0"/>
                  </a:lnTo>
                  <a:lnTo>
                    <a:pt x="103380" y="7706"/>
                  </a:lnTo>
                  <a:lnTo>
                    <a:pt x="61886" y="29164"/>
                  </a:lnTo>
                  <a:lnTo>
                    <a:pt x="29164" y="61886"/>
                  </a:lnTo>
                  <a:lnTo>
                    <a:pt x="7706" y="103380"/>
                  </a:lnTo>
                  <a:lnTo>
                    <a:pt x="0" y="151158"/>
                  </a:lnTo>
                  <a:lnTo>
                    <a:pt x="0" y="283422"/>
                  </a:lnTo>
                  <a:lnTo>
                    <a:pt x="78602" y="283422"/>
                  </a:lnTo>
                  <a:lnTo>
                    <a:pt x="94474" y="529055"/>
                  </a:lnTo>
                  <a:lnTo>
                    <a:pt x="207843" y="529055"/>
                  </a:lnTo>
                  <a:lnTo>
                    <a:pt x="223714" y="283422"/>
                  </a:lnTo>
                  <a:lnTo>
                    <a:pt x="302317" y="283422"/>
                  </a:lnTo>
                  <a:lnTo>
                    <a:pt x="302317" y="151158"/>
                  </a:lnTo>
                  <a:close/>
                </a:path>
              </a:pathLst>
            </a:custGeom>
            <a:ln w="25193">
              <a:solidFill>
                <a:srgbClr val="4E91FC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B363841A-718E-C7D4-CBB2-042A06AA3BD8}"/>
              </a:ext>
            </a:extLst>
          </p:cNvPr>
          <p:cNvGrpSpPr/>
          <p:nvPr/>
        </p:nvGrpSpPr>
        <p:grpSpPr>
          <a:xfrm>
            <a:off x="8061815" y="2617035"/>
            <a:ext cx="422275" cy="781050"/>
            <a:chOff x="8709611" y="3086155"/>
            <a:chExt cx="422275" cy="78105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761CD74-5084-D67E-9E78-2A57E1A075A6}"/>
                </a:ext>
              </a:extLst>
            </p:cNvPr>
            <p:cNvSpPr/>
            <p:nvPr/>
          </p:nvSpPr>
          <p:spPr>
            <a:xfrm>
              <a:off x="9031326" y="3098752"/>
              <a:ext cx="88265" cy="151765"/>
            </a:xfrm>
            <a:custGeom>
              <a:avLst/>
              <a:gdLst/>
              <a:ahLst/>
              <a:cxnLst/>
              <a:rect l="l" t="t" r="r" b="b"/>
              <a:pathLst>
                <a:path w="88265" h="151764">
                  <a:moveTo>
                    <a:pt x="0" y="45725"/>
                  </a:moveTo>
                  <a:lnTo>
                    <a:pt x="6580" y="60168"/>
                  </a:lnTo>
                  <a:lnTo>
                    <a:pt x="8774" y="75579"/>
                  </a:lnTo>
                  <a:lnTo>
                    <a:pt x="6580" y="90989"/>
                  </a:lnTo>
                  <a:lnTo>
                    <a:pt x="0" y="105433"/>
                  </a:lnTo>
                </a:path>
                <a:path w="88265" h="151764">
                  <a:moveTo>
                    <a:pt x="56306" y="0"/>
                  </a:moveTo>
                  <a:lnTo>
                    <a:pt x="69708" y="16258"/>
                  </a:lnTo>
                  <a:lnTo>
                    <a:pt x="79572" y="34650"/>
                  </a:lnTo>
                  <a:lnTo>
                    <a:pt x="85662" y="54612"/>
                  </a:lnTo>
                  <a:lnTo>
                    <a:pt x="87745" y="75579"/>
                  </a:lnTo>
                  <a:lnTo>
                    <a:pt x="85662" y="96545"/>
                  </a:lnTo>
                  <a:lnTo>
                    <a:pt x="79572" y="116507"/>
                  </a:lnTo>
                  <a:lnTo>
                    <a:pt x="69708" y="134900"/>
                  </a:lnTo>
                  <a:lnTo>
                    <a:pt x="56306" y="151158"/>
                  </a:lnTo>
                </a:path>
              </a:pathLst>
            </a:custGeom>
            <a:ln w="25193">
              <a:solidFill>
                <a:srgbClr val="4E91FC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 dirty="0"/>
            </a:p>
          </p:txBody>
        </p:sp>
        <p:pic>
          <p:nvPicPr>
            <p:cNvPr id="20" name="object 15">
              <a:extLst>
                <a:ext uri="{FF2B5EF4-FFF2-40B4-BE49-F238E27FC236}">
                  <a16:creationId xmlns:a16="http://schemas.microsoft.com/office/drawing/2014/main" id="{2AFCD80E-112A-457F-8E5B-29C0164D7E4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6295" y="3086155"/>
              <a:ext cx="214141" cy="214141"/>
            </a:xfrm>
            <a:prstGeom prst="rect">
              <a:avLst/>
            </a:prstGeom>
          </p:spPr>
        </p:pic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2E52A980-65C3-EFFB-AF43-5FABE004F8FA}"/>
                </a:ext>
              </a:extLst>
            </p:cNvPr>
            <p:cNvSpPr/>
            <p:nvPr/>
          </p:nvSpPr>
          <p:spPr>
            <a:xfrm>
              <a:off x="8722207" y="3325646"/>
              <a:ext cx="302895" cy="528955"/>
            </a:xfrm>
            <a:custGeom>
              <a:avLst/>
              <a:gdLst/>
              <a:ahLst/>
              <a:cxnLst/>
              <a:rect l="l" t="t" r="r" b="b"/>
              <a:pathLst>
                <a:path w="302895" h="528954">
                  <a:moveTo>
                    <a:pt x="261126" y="93183"/>
                  </a:moveTo>
                  <a:lnTo>
                    <a:pt x="247835" y="55940"/>
                  </a:lnTo>
                  <a:lnTo>
                    <a:pt x="223228" y="26428"/>
                  </a:lnTo>
                  <a:lnTo>
                    <a:pt x="190078" y="6998"/>
                  </a:lnTo>
                  <a:lnTo>
                    <a:pt x="151158" y="0"/>
                  </a:lnTo>
                  <a:lnTo>
                    <a:pt x="112238" y="6998"/>
                  </a:lnTo>
                  <a:lnTo>
                    <a:pt x="79088" y="26428"/>
                  </a:lnTo>
                  <a:lnTo>
                    <a:pt x="54482" y="55940"/>
                  </a:lnTo>
                  <a:lnTo>
                    <a:pt x="41190" y="93183"/>
                  </a:lnTo>
                  <a:lnTo>
                    <a:pt x="0" y="339950"/>
                  </a:lnTo>
                  <a:lnTo>
                    <a:pt x="78602" y="339950"/>
                  </a:lnTo>
                  <a:lnTo>
                    <a:pt x="94474" y="528898"/>
                  </a:lnTo>
                  <a:lnTo>
                    <a:pt x="207843" y="528898"/>
                  </a:lnTo>
                  <a:lnTo>
                    <a:pt x="223714" y="339950"/>
                  </a:lnTo>
                  <a:lnTo>
                    <a:pt x="302317" y="339950"/>
                  </a:lnTo>
                  <a:lnTo>
                    <a:pt x="261126" y="93183"/>
                  </a:lnTo>
                  <a:close/>
                </a:path>
              </a:pathLst>
            </a:custGeom>
            <a:ln w="25193">
              <a:solidFill>
                <a:srgbClr val="4E91FC"/>
              </a:solidFill>
            </a:ln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80D5189-766F-029B-E89F-66E9FF1A5B30}"/>
              </a:ext>
            </a:extLst>
          </p:cNvPr>
          <p:cNvSpPr txBox="1"/>
          <p:nvPr/>
        </p:nvSpPr>
        <p:spPr>
          <a:xfrm>
            <a:off x="3172256" y="5337655"/>
            <a:ext cx="5989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we approach social media content?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0215B2-8BE1-38AE-F4B0-7178548E1A29}"/>
              </a:ext>
            </a:extLst>
          </p:cNvPr>
          <p:cNvSpPr txBox="1"/>
          <p:nvPr/>
        </p:nvSpPr>
        <p:spPr>
          <a:xfrm>
            <a:off x="3187113" y="413319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E36828-DDA1-3557-C6B4-08E151E68DC2}"/>
              </a:ext>
            </a:extLst>
          </p:cNvPr>
          <p:cNvSpPr txBox="1"/>
          <p:nvPr/>
        </p:nvSpPr>
        <p:spPr>
          <a:xfrm>
            <a:off x="7450314" y="4102787"/>
            <a:ext cx="1855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Reception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FDD285-782C-78C8-D7F2-F946330555E3}"/>
              </a:ext>
            </a:extLst>
          </p:cNvPr>
          <p:cNvSpPr txBox="1"/>
          <p:nvPr/>
        </p:nvSpPr>
        <p:spPr>
          <a:xfrm>
            <a:off x="2326502" y="4761824"/>
            <a:ext cx="322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perspectives to embrace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2C34CC-D8DA-BCF6-D9AE-CEC8FB5AEF34}"/>
              </a:ext>
            </a:extLst>
          </p:cNvPr>
          <p:cNvSpPr txBox="1"/>
          <p:nvPr/>
        </p:nvSpPr>
        <p:spPr>
          <a:xfrm>
            <a:off x="6290073" y="4767605"/>
            <a:ext cx="479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influenced by algorithmically selected content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B144D74-4B5A-3E74-8605-0DFDC1C9A2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269" y="2436323"/>
            <a:ext cx="1109784" cy="110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6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B2FB-07A9-D3C2-4088-4326DCCE1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Content Algorithm 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22F8D5-1196-A350-68C1-B33105F09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329" y="1456900"/>
            <a:ext cx="8003111" cy="51674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CD6899-A4D8-8761-339A-EAA2B1211768}"/>
              </a:ext>
            </a:extLst>
          </p:cNvPr>
          <p:cNvSpPr txBox="1"/>
          <p:nvPr/>
        </p:nvSpPr>
        <p:spPr>
          <a:xfrm>
            <a:off x="8818880" y="6127115"/>
            <a:ext cx="1432560" cy="36576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4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3804-A257-DC4E-423C-B2871CAE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12795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1A2C-0ED7-8F82-4179-DC2B020B7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3151188"/>
            <a:ext cx="10515600" cy="119287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Analyze how social media algorithms influence political opinions and their resulting impact on society.</a:t>
            </a:r>
          </a:p>
        </p:txBody>
      </p:sp>
    </p:spTree>
    <p:extLst>
      <p:ext uri="{BB962C8B-B14F-4D97-AF65-F5344CB8AC3E}">
        <p14:creationId xmlns:p14="http://schemas.microsoft.com/office/powerpoint/2010/main" val="21409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E5FC-9CF3-910F-31EC-AA7C2297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750"/>
              </a:lnSpc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Analysis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F402B-DCE8-3B35-D11D-0EF70535B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721" y="1155226"/>
            <a:ext cx="9145600" cy="55300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A796E8-E4E7-1E00-A23E-169D5A435A2D}"/>
              </a:ext>
            </a:extLst>
          </p:cNvPr>
          <p:cNvSpPr txBox="1"/>
          <p:nvPr/>
        </p:nvSpPr>
        <p:spPr>
          <a:xfrm>
            <a:off x="8808720" y="5974079"/>
            <a:ext cx="1727200" cy="71119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2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3ADD-6BCB-4053-4E08-C725AA8B8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07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CAC4A-EC37-86C5-A028-21129BD447EF}"/>
              </a:ext>
            </a:extLst>
          </p:cNvPr>
          <p:cNvSpPr txBox="1"/>
          <p:nvPr/>
        </p:nvSpPr>
        <p:spPr>
          <a:xfrm>
            <a:off x="1239520" y="2178368"/>
            <a:ext cx="879118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detected strong patterns of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in political content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engaging posts are often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emotional.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content tends to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reaction over accuracy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are repeatedly exposed to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opinion-based content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Engagement-driven systems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amplify extreme viewpoints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79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Playfair Display Semi Bold</vt:lpstr>
      <vt:lpstr>Times New Roman</vt:lpstr>
      <vt:lpstr>Office Theme</vt:lpstr>
      <vt:lpstr>Social Media Algorithm &amp;  Political Polarization</vt:lpstr>
      <vt:lpstr>PowerPoint Presentation</vt:lpstr>
      <vt:lpstr>Viral Content Algorithm Cycle</vt:lpstr>
      <vt:lpstr>Problem Statement</vt:lpstr>
      <vt:lpstr>Analysis</vt:lpstr>
      <vt:lpstr>Key Findings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Ankush Sharma</dc:creator>
  <cp:lastModifiedBy>Ankush Sharma</cp:lastModifiedBy>
  <cp:revision>3</cp:revision>
  <dcterms:created xsi:type="dcterms:W3CDTF">2026-03-22T17:51:55Z</dcterms:created>
  <dcterms:modified xsi:type="dcterms:W3CDTF">2026-04-26T09:58:16Z</dcterms:modified>
</cp:coreProperties>
</file>